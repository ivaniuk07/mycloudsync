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065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Проєктування архітектури та даних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063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Настільний застосунок для синхронізації вибраних папок Windows із Google Drive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архітектурний підхід  ·  компоненти  ·  взаємодія  ·  модель даних  ·  ключові рішення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Команда: Іванюк Олексій · Самсін Влад · Задорожний Максим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326880" y="155448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E8EFFC"/>
          </a:solidFill>
          <a:ln w="12700">
            <a:solidFill>
              <a:srgbClr val="2D68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 txBox="1"/>
          <p:nvPr/>
        </p:nvSpPr>
        <p:spPr>
          <a:xfrm>
            <a:off x="9326880" y="15544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26880" y="228600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E3F2F3"/>
          </a:solidFill>
          <a:ln w="12700">
            <a:solidFill>
              <a:srgbClr val="187F8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8"/>
          <p:cNvSpPr txBox="1"/>
          <p:nvPr/>
        </p:nvSpPr>
        <p:spPr>
          <a:xfrm>
            <a:off x="9326880" y="22860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26880" y="3017520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FDEEE3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2" name="Text 10"/>
          <p:cNvSpPr txBox="1"/>
          <p:nvPr/>
        </p:nvSpPr>
        <p:spPr>
          <a:xfrm>
            <a:off x="9326880" y="3017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Архітектурний підхід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Багатошаровий застосунок з інверсією залежностей: логіка не знає про WinForms, Google і SQLite.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E8EFFC"/>
          </a:solidFill>
          <a:ln w="15875">
            <a:solidFill>
              <a:srgbClr val="2D68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 txBox="1"/>
          <p:nvPr/>
        </p:nvSpPr>
        <p:spPr>
          <a:xfrm>
            <a:off x="731520" y="167335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Представлення — MyCloudSync.App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 WinForms, іконка в треї, Program.cs (DI-контейнер)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E3F2F3"/>
          </a:solidFill>
          <a:ln w="15875">
            <a:solidFill>
              <a:srgbClr val="187F8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 txBox="1"/>
          <p:nvPr/>
        </p:nvSpPr>
        <p:spPr>
          <a:xfrm>
            <a:off x="731520" y="309067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Логіка застосунку — MyCloudSync.Core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Моделі · інтерфейси (ICloudStorage, I*Repository…) · SyncCoordinator, ChangeDetector, SyncPlanner, ConflictResolver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43484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FDEEE3"/>
          </a:solidFill>
          <a:ln w="15875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 txBox="1"/>
          <p:nvPr/>
        </p:nvSpPr>
        <p:spPr>
          <a:xfrm>
            <a:off x="731520" y="4507992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Інфраструктура — MyCloudSync.Infrastructure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 API · FileSystemWatcher і файли · SQLite · DPAPI · автозапуск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931920" y="2651760"/>
            <a:ext cx="914" cy="36576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 txBox="1"/>
          <p:nvPr/>
        </p:nvSpPr>
        <p:spPr>
          <a:xfrm>
            <a:off x="406908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викликає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 flipV="1">
            <a:off x="3931920" y="4087368"/>
            <a:ext cx="914" cy="347472"/>
          </a:xfrm>
          <a:prstGeom prst="line">
            <a:avLst/>
          </a:prstGeom>
          <a:noFill/>
          <a:ln w="19050">
            <a:solidFill>
              <a:srgbClr val="7A8AA0"/>
            </a:solidFill>
            <a:prstDash val="dash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 txBox="1"/>
          <p:nvPr/>
        </p:nvSpPr>
        <p:spPr>
          <a:xfrm>
            <a:off x="406908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реалізує інтерфейси Core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Навіщо так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863840" y="20574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6" name="Text 14"/>
          <p:cNvSpPr txBox="1"/>
          <p:nvPr/>
        </p:nvSpPr>
        <p:spPr>
          <a:xfrm>
            <a:off x="7973568" y="2112264"/>
            <a:ext cx="3529584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Тестованість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Логіку синхронізації перевіряємо без інтернету й Google-акаунта: інтерфейси підміняються заглушками.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863840" y="324612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8" name="Text 16"/>
          <p:cNvSpPr txBox="1"/>
          <p:nvPr/>
        </p:nvSpPr>
        <p:spPr>
          <a:xfrm>
            <a:off x="7973568" y="3300984"/>
            <a:ext cx="3529584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Робота в команді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працює у своєму шарі: UI, Google Drive, синхронізація й дані.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863840" y="443484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0" name="Text 18"/>
          <p:cNvSpPr txBox="1"/>
          <p:nvPr/>
        </p:nvSpPr>
        <p:spPr>
          <a:xfrm>
            <a:off x="7973568" y="4489704"/>
            <a:ext cx="3529584" cy="9418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Заміна частин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Інше хмарне сховище = новий клас в Infrastructure, решта коду не змінюється.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рішення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MyCloudSync.sln, .NET 8 — чотири проєкти.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2D68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MyCloudSync.App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net8.0-windows · WinForms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4028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Program.cs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MainForm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SettingsForm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LogForm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DriveFolderPickerForm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Tray/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TrayIconController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83280" y="15087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187F8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6"/>
          <p:cNvSpPr txBox="1"/>
          <p:nvPr/>
        </p:nvSpPr>
        <p:spPr>
          <a:xfrm>
            <a:off x="352044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MyCloudSync.Core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net8.0 · без залежностей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24028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Account, SyncPair,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FileState, Conflict…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Abstractions/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ICloudStorage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ILocalFileSystem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I*Repository…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SyncCoordinator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SyncScheduler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ChangeDetector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SyncPlanner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ConflictResolver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 txBox="1"/>
          <p:nvPr/>
        </p:nvSpPr>
        <p:spPr>
          <a:xfrm>
            <a:off x="635508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MyCloudSync.Infrastructure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net8.0-windows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24028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GoogleDrive/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GoogleAuthService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GoogleDriveStorage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FileSystem/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LocalFileSystem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FolderWatcher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HashCalculator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SQLite-репозиторії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schema.sql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System/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DpapiTokenProtector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AutostartService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52560" y="15087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5875">
            <a:solidFill>
              <a:srgbClr val="52627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4" name="Text 12"/>
          <p:cNvSpPr txBox="1"/>
          <p:nvPr/>
        </p:nvSpPr>
        <p:spPr>
          <a:xfrm>
            <a:off x="918972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MyCloudSync.Tests</a:t>
            </a:r>
            <a:endParaRPr lang="en-US" sz="1350" dirty="0"/>
          </a:p>
          <a:p>
            <a:pPr marL="0" indent="0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xUnit + NSubstitute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24028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ChangeDetectorTests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SyncPlannerTests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ExcludeMatcherTests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Тести логіки Core без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4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мережі та бази даних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NuGet-пакети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Google.Apis.Drive.v3 + Google.Apis.Auth</a:t>
            </a: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Google Drive API, OAuth 2.0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Microsoft.Data.Sqlite + Dapper</a:t>
            </a: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SQLite, запити без ручного мапінгу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ProtectedData</a:t>
            </a: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Windows DPAPI для токенів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Microsoft.Extensions.DependencyInjection</a:t>
            </a:r>
            <a:r>
              <a:rPr lang="en-US" sz="12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з'єднання шарів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Компоненти та відповідальність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учасник команди відповідає за свій набір компонентів.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E8EFFC"/>
          </a:solidFill>
          <a:ln w="12700">
            <a:solidFill>
              <a:srgbClr val="2D68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 txBox="1"/>
          <p:nvPr/>
        </p:nvSpPr>
        <p:spPr>
          <a:xfrm>
            <a:off x="685800" y="1536192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Задорожний Максим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Інтерфейс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 txBox="1"/>
          <p:nvPr/>
        </p:nvSpPr>
        <p:spPr>
          <a:xfrm>
            <a:off x="658368" y="243230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MainForm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статус, пара папок, «Синхронізувати», «Пауза»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 txBox="1"/>
          <p:nvPr/>
        </p:nvSpPr>
        <p:spPr>
          <a:xfrm>
            <a:off x="658368" y="325526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SettingsForm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папки, режим, інтервал, маски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 txBox="1"/>
          <p:nvPr/>
        </p:nvSpPr>
        <p:spPr>
          <a:xfrm>
            <a:off x="658368" y="407822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LogForm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 операцій, фільтр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 txBox="1"/>
          <p:nvPr/>
        </p:nvSpPr>
        <p:spPr>
          <a:xfrm>
            <a:off x="658368" y="490118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TrayIconController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трей, меню, сповіщення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66928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 txBox="1"/>
          <p:nvPr/>
        </p:nvSpPr>
        <p:spPr>
          <a:xfrm>
            <a:off x="658368" y="572414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AutostartService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з Windows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1508760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FDEEE3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 txBox="1"/>
          <p:nvPr/>
        </p:nvSpPr>
        <p:spPr>
          <a:xfrm>
            <a:off x="4480560" y="1536192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Іванюк Олексій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 і конфлікти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343400" y="237744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9" name="Text 17"/>
          <p:cNvSpPr txBox="1"/>
          <p:nvPr/>
        </p:nvSpPr>
        <p:spPr>
          <a:xfrm>
            <a:off x="4453128" y="243230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GoogleAuthService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 OAuth 2.0, оновлення токена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320040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 txBox="1"/>
          <p:nvPr/>
        </p:nvSpPr>
        <p:spPr>
          <a:xfrm>
            <a:off x="4453128" y="325526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GoogleDriveStorage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зміни, upload, download, кошик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43400" y="402336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 txBox="1"/>
          <p:nvPr/>
        </p:nvSpPr>
        <p:spPr>
          <a:xfrm>
            <a:off x="4453128" y="407822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DpapiTokenProtector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шифрування токенів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484632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5" name="Text 23"/>
          <p:cNvSpPr txBox="1"/>
          <p:nvPr/>
        </p:nvSpPr>
        <p:spPr>
          <a:xfrm>
            <a:off x="4453128" y="490118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ConflictResolver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зберегти обидві версії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38160" y="1508760"/>
            <a:ext cx="3611880" cy="731520"/>
          </a:xfrm>
          <a:prstGeom prst="roundRect">
            <a:avLst>
              <a:gd name="adj" fmla="val 10000"/>
            </a:avLst>
          </a:prstGeom>
          <a:solidFill>
            <a:srgbClr val="E3F2F3"/>
          </a:solidFill>
          <a:ln w="12700">
            <a:solidFill>
              <a:srgbClr val="187F8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7" name="Text 25"/>
          <p:cNvSpPr txBox="1"/>
          <p:nvPr/>
        </p:nvSpPr>
        <p:spPr>
          <a:xfrm>
            <a:off x="8275320" y="1536192"/>
            <a:ext cx="3383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Самсін Влад</a:t>
            </a:r>
            <a:r>
              <a:rPr lang="uk-UA" sz="1500" b="1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ислав</a:t>
            </a:r>
            <a:endParaRPr lang="en-US" sz="1500" dirty="0"/>
          </a:p>
          <a:p>
            <a:pPr marL="0" indent="0">
              <a:buNone/>
            </a:pPr>
            <a:r>
              <a:rPr lang="en-US" sz="115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Синхронізація і дані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138160" y="237744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9" name="Text 27"/>
          <p:cNvSpPr txBox="1"/>
          <p:nvPr/>
        </p:nvSpPr>
        <p:spPr>
          <a:xfrm>
            <a:off x="8247888" y="243230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SyncCoordinator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 синхронізації, статус, пауза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38160" y="320040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1" name="Text 29"/>
          <p:cNvSpPr txBox="1"/>
          <p:nvPr/>
        </p:nvSpPr>
        <p:spPr>
          <a:xfrm>
            <a:off x="8247888" y="325526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ChangeDetector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порівняння трьох станів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38160" y="402336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3" name="Text 31"/>
          <p:cNvSpPr txBox="1"/>
          <p:nvPr/>
        </p:nvSpPr>
        <p:spPr>
          <a:xfrm>
            <a:off x="8247888" y="407822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SyncPlanner + SyncScheduler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дій, таймер, debounce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138160" y="484632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5" name="Text 33"/>
          <p:cNvSpPr txBox="1"/>
          <p:nvPr/>
        </p:nvSpPr>
        <p:spPr>
          <a:xfrm>
            <a:off x="8247888" y="490118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FolderWatcher, LocalFileSystem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події файлів, хеші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38160" y="566928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7" name="Text 35"/>
          <p:cNvSpPr txBox="1"/>
          <p:nvPr/>
        </p:nvSpPr>
        <p:spPr>
          <a:xfrm>
            <a:off x="8247888" y="5724144"/>
            <a:ext cx="3392424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SQLite-репозиторії</a:t>
            </a:r>
            <a:endParaRPr lang="en-US" sz="12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схема, читання й запис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взаємодії компонентів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Форми говорять лише з координатором; Google API і SQL — тільки через інтерфейси.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E8EFFC"/>
          </a:solidFill>
          <a:ln w="12700">
            <a:solidFill>
              <a:srgbClr val="2D68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 txBox="1"/>
          <p:nvPr/>
        </p:nvSpPr>
        <p:spPr>
          <a:xfrm>
            <a:off x="658368" y="1609344"/>
            <a:ext cx="170078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TrayIcon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155448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E8EFFC"/>
          </a:solidFill>
          <a:ln w="12700">
            <a:solidFill>
              <a:srgbClr val="2D68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 txBox="1"/>
          <p:nvPr/>
        </p:nvSpPr>
        <p:spPr>
          <a:xfrm>
            <a:off x="2852928" y="1609344"/>
            <a:ext cx="170078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MainForm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0" y="155448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E8EFFC"/>
          </a:solidFill>
          <a:ln w="12700">
            <a:solidFill>
              <a:srgbClr val="2D68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 txBox="1"/>
          <p:nvPr/>
        </p:nvSpPr>
        <p:spPr>
          <a:xfrm>
            <a:off x="7242048" y="1609344"/>
            <a:ext cx="170078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SettingsForm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26880" y="155448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E8EFFC"/>
          </a:solidFill>
          <a:ln w="12700">
            <a:solidFill>
              <a:srgbClr val="2D68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 txBox="1"/>
          <p:nvPr/>
        </p:nvSpPr>
        <p:spPr>
          <a:xfrm>
            <a:off x="9436608" y="1609344"/>
            <a:ext cx="170078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LogForm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E3F2F3"/>
          </a:solidFill>
          <a:ln w="12700">
            <a:solidFill>
              <a:srgbClr val="187F8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 txBox="1"/>
          <p:nvPr/>
        </p:nvSpPr>
        <p:spPr>
          <a:xfrm>
            <a:off x="658368" y="3026664"/>
            <a:ext cx="170078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SyncScheduler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743200" y="29718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E3F2F3"/>
          </a:solidFill>
          <a:ln w="12700">
            <a:solidFill>
              <a:srgbClr val="187F8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 txBox="1"/>
          <p:nvPr/>
        </p:nvSpPr>
        <p:spPr>
          <a:xfrm>
            <a:off x="2852928" y="3026664"/>
            <a:ext cx="170078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SyncCoordinator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37760" y="297180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E3F2F3"/>
          </a:solidFill>
          <a:ln w="12700">
            <a:solidFill>
              <a:srgbClr val="187F8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 txBox="1"/>
          <p:nvPr/>
        </p:nvSpPr>
        <p:spPr>
          <a:xfrm>
            <a:off x="5047488" y="3026664"/>
            <a:ext cx="334670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ChangeDetector → SyncPlanner → ConflictResolver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DEEE3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9" name="Text 17"/>
          <p:cNvSpPr txBox="1"/>
          <p:nvPr/>
        </p:nvSpPr>
        <p:spPr>
          <a:xfrm>
            <a:off x="658368" y="4443984"/>
            <a:ext cx="170078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FolderWatcher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43891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DEEE3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 txBox="1"/>
          <p:nvPr/>
        </p:nvSpPr>
        <p:spPr>
          <a:xfrm>
            <a:off x="2852928" y="4443984"/>
            <a:ext cx="170078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LocalFileSystem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43891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DEEE3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 txBox="1"/>
          <p:nvPr/>
        </p:nvSpPr>
        <p:spPr>
          <a:xfrm>
            <a:off x="5047488" y="4443984"/>
            <a:ext cx="170078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GoogleDriveStorage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32320" y="43891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DEEE3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5" name="Text 23"/>
          <p:cNvSpPr txBox="1"/>
          <p:nvPr/>
        </p:nvSpPr>
        <p:spPr>
          <a:xfrm>
            <a:off x="7242048" y="4443984"/>
            <a:ext cx="170078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GoogleAuthService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326880" y="43891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FDEEE3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7" name="Text 25"/>
          <p:cNvSpPr txBox="1"/>
          <p:nvPr/>
        </p:nvSpPr>
        <p:spPr>
          <a:xfrm>
            <a:off x="9436608" y="4443984"/>
            <a:ext cx="1700784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SQLite-репозиторії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645920" y="5623560"/>
            <a:ext cx="1920240" cy="731520"/>
          </a:xfrm>
          <a:prstGeom prst="can">
            <a:avLst/>
          </a:prstGeom>
          <a:solidFill>
            <a:srgbClr val="FFFFFF"/>
          </a:solidFill>
          <a:ln w="12700">
            <a:solidFill>
              <a:srgbClr val="52627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29" name="Text 27"/>
          <p:cNvSpPr txBox="1"/>
          <p:nvPr/>
        </p:nvSpPr>
        <p:spPr>
          <a:xfrm>
            <a:off x="1645920" y="5806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 папка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35040" y="5623560"/>
            <a:ext cx="1920240" cy="731520"/>
          </a:xfrm>
          <a:prstGeom prst="can">
            <a:avLst/>
          </a:prstGeom>
          <a:solidFill>
            <a:srgbClr val="FFFFFF"/>
          </a:solidFill>
          <a:ln w="12700">
            <a:solidFill>
              <a:srgbClr val="52627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1" name="Text 29"/>
          <p:cNvSpPr txBox="1"/>
          <p:nvPr/>
        </p:nvSpPr>
        <p:spPr>
          <a:xfrm>
            <a:off x="6035040" y="5806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 API v3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326880" y="5623560"/>
            <a:ext cx="1920240" cy="731520"/>
          </a:xfrm>
          <a:prstGeom prst="can">
            <a:avLst/>
          </a:prstGeom>
          <a:solidFill>
            <a:srgbClr val="FFFFFF"/>
          </a:solidFill>
          <a:ln w="12700">
            <a:solidFill>
              <a:srgbClr val="52627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3" name="Text 31"/>
          <p:cNvSpPr txBox="1"/>
          <p:nvPr/>
        </p:nvSpPr>
        <p:spPr>
          <a:xfrm>
            <a:off x="9326880" y="5806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mycloudsync.db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474720" y="2103120"/>
            <a:ext cx="914" cy="86868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35" name="Text 33"/>
          <p:cNvSpPr txBox="1"/>
          <p:nvPr/>
        </p:nvSpPr>
        <p:spPr>
          <a:xfrm>
            <a:off x="2011680" y="23957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StartSync / Pause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 flipV="1">
            <a:off x="4023360" y="2103120"/>
            <a:ext cx="914" cy="868680"/>
          </a:xfrm>
          <a:prstGeom prst="line">
            <a:avLst/>
          </a:prstGeom>
          <a:noFill/>
          <a:ln w="19050">
            <a:solidFill>
              <a:srgbClr val="7A8AA0"/>
            </a:solidFill>
            <a:prstDash val="dash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37" name="Text 35"/>
          <p:cNvSpPr txBox="1"/>
          <p:nvPr/>
        </p:nvSpPr>
        <p:spPr>
          <a:xfrm>
            <a:off x="4114800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статус, прогрес → MainForm, TrayIcon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468880" y="3246120"/>
            <a:ext cx="27432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39" name="Shape 37"/>
          <p:cNvSpPr/>
          <p:nvPr/>
        </p:nvSpPr>
        <p:spPr>
          <a:xfrm>
            <a:off x="4663440" y="3246120"/>
            <a:ext cx="27432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40" name="Shape 38"/>
          <p:cNvSpPr/>
          <p:nvPr/>
        </p:nvSpPr>
        <p:spPr>
          <a:xfrm>
            <a:off x="8778240" y="2103120"/>
            <a:ext cx="914" cy="228600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41" name="Text 39"/>
          <p:cNvSpPr txBox="1"/>
          <p:nvPr/>
        </p:nvSpPr>
        <p:spPr>
          <a:xfrm>
            <a:off x="772668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 / вихід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052560" y="1920240"/>
            <a:ext cx="731520" cy="246888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43" name="Text 41"/>
          <p:cNvSpPr txBox="1"/>
          <p:nvPr/>
        </p:nvSpPr>
        <p:spPr>
          <a:xfrm>
            <a:off x="946404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налаштування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10607040" y="2103120"/>
            <a:ext cx="914" cy="228600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45" name="Text 43"/>
          <p:cNvSpPr txBox="1"/>
          <p:nvPr/>
        </p:nvSpPr>
        <p:spPr>
          <a:xfrm>
            <a:off x="1069848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 flipV="1">
            <a:off x="1508760" y="3520440"/>
            <a:ext cx="914" cy="86868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47" name="Text 45"/>
          <p:cNvSpPr txBox="1"/>
          <p:nvPr/>
        </p:nvSpPr>
        <p:spPr>
          <a:xfrm>
            <a:off x="411480" y="3840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подія файлу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91840" y="3520440"/>
            <a:ext cx="914" cy="86868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49" name="Text 47"/>
          <p:cNvSpPr txBox="1"/>
          <p:nvPr/>
        </p:nvSpPr>
        <p:spPr>
          <a:xfrm>
            <a:off x="1828800" y="39319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ILocalFileSystem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931920" y="3520440"/>
            <a:ext cx="1737360" cy="86868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51" name="Text 49"/>
          <p:cNvSpPr txBox="1"/>
          <p:nvPr/>
        </p:nvSpPr>
        <p:spPr>
          <a:xfrm>
            <a:off x="484632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ICloudStorage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0" y="3383280"/>
            <a:ext cx="4846320" cy="100584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53" name="Text 51"/>
          <p:cNvSpPr txBox="1"/>
          <p:nvPr/>
        </p:nvSpPr>
        <p:spPr>
          <a:xfrm>
            <a:off x="69494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I*Repository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858000" y="4663440"/>
            <a:ext cx="27432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55" name="Shape 53"/>
          <p:cNvSpPr/>
          <p:nvPr/>
        </p:nvSpPr>
        <p:spPr>
          <a:xfrm>
            <a:off x="1508760" y="4937760"/>
            <a:ext cx="685800" cy="68580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56" name="Shape 54"/>
          <p:cNvSpPr/>
          <p:nvPr/>
        </p:nvSpPr>
        <p:spPr>
          <a:xfrm flipH="1">
            <a:off x="3017520" y="4937760"/>
            <a:ext cx="685800" cy="68580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57" name="Shape 55"/>
          <p:cNvSpPr/>
          <p:nvPr/>
        </p:nvSpPr>
        <p:spPr>
          <a:xfrm>
            <a:off x="5897880" y="4937760"/>
            <a:ext cx="685800" cy="68580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58" name="Shape 56"/>
          <p:cNvSpPr/>
          <p:nvPr/>
        </p:nvSpPr>
        <p:spPr>
          <a:xfrm flipH="1">
            <a:off x="7406640" y="4937760"/>
            <a:ext cx="685800" cy="68580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59" name="Shape 57"/>
          <p:cNvSpPr/>
          <p:nvPr/>
        </p:nvSpPr>
        <p:spPr>
          <a:xfrm>
            <a:off x="10287000" y="4937760"/>
            <a:ext cx="914" cy="68580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60" name="Text 58"/>
          <p:cNvSpPr txBox="1"/>
          <p:nvPr/>
        </p:nvSpPr>
        <p:spPr>
          <a:xfrm>
            <a:off x="1138428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1384280" y="3108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11384280" y="45262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виявляються зміни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Трьохстороннє порівняння: L — диск зараз, R — Google Drive зараз, S — збережено в FileState.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Локально (L vs 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 хмарі (R vs 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Дія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6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змін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змін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змінено, хеші різні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241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Conflict — зберегти обидві версії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новий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немає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 (створити)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немає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новий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видалено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змін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 кошик Google Drive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 змін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видалено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 кошик Windows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видалено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змінено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26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Download (зміна важливіша)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0876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3"/>
          <p:cNvSpPr txBox="1"/>
          <p:nvPr/>
        </p:nvSpPr>
        <p:spPr>
          <a:xfrm>
            <a:off x="7973568" y="1563624"/>
            <a:ext cx="3529584" cy="130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Хеш MD5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Локально рахує HashCalculator, Google Drive повертає md5Checksum. Один алгоритм — можна порівняти напряму.</a:t>
            </a:r>
            <a:endParaRPr lang="en-US" sz="1400" dirty="0"/>
          </a:p>
        </p:txBody>
      </p:sp>
      <p:sp>
        <p:nvSpPr>
          <p:cNvPr id="4" name="Shape 4"/>
          <p:cNvSpPr/>
          <p:nvPr/>
        </p:nvSpPr>
        <p:spPr>
          <a:xfrm>
            <a:off x="7863840" y="30632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5"/>
          <p:cNvSpPr txBox="1"/>
          <p:nvPr/>
        </p:nvSpPr>
        <p:spPr>
          <a:xfrm>
            <a:off x="7973568" y="3118104"/>
            <a:ext cx="3529584" cy="1124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Швидкий фільтр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Спершу розмір і дата зміни; хеш рахуємо лише для підозрілих файлів.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63840" y="44348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7"/>
          <p:cNvSpPr txBox="1"/>
          <p:nvPr/>
        </p:nvSpPr>
        <p:spPr>
          <a:xfrm>
            <a:off x="7973568" y="4489704"/>
            <a:ext cx="3529584" cy="1124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 і маски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UploadOnly / DownloadOnly відкидають зайві дії; файли з ExcludeRule не потрапляють у план.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даних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 SQLite: 7 таблиць, зв'язки 1 : N, третя нормальна форма.</a:t>
            </a:r>
            <a:endParaRPr lang="en-US" sz="1500" dirty="0"/>
          </a:p>
        </p:txBody>
      </p:sp>
      <p:pic>
        <p:nvPicPr>
          <p:cNvPr id="4" name="Image 0" descr="/tmp/claude-0/-home-claude/5fe8e792-13db-59b6-b646-09a8c96c8ca5/scratchpad/arch/MyCloudSync_architecture/docs/architecture/images/MyCloudSync_DB_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7863840" cy="417463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95360" y="141732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6" name="Text 3"/>
          <p:cNvSpPr txBox="1"/>
          <p:nvPr/>
        </p:nvSpPr>
        <p:spPr>
          <a:xfrm>
            <a:off x="8705088" y="1472184"/>
            <a:ext cx="2889504" cy="130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Файли — у хмарі, стан — локально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зберігає лише службові дані: що вже синхронізовано, налаштування, журнал.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95360" y="301752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8" name="Text 5"/>
          <p:cNvSpPr txBox="1"/>
          <p:nvPr/>
        </p:nvSpPr>
        <p:spPr>
          <a:xfrm>
            <a:off x="8705088" y="3072384"/>
            <a:ext cx="2889504" cy="130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 — SyncPair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 «папка ↔ папка Drive» з режимом і page_token для changes.list.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595360" y="4617720"/>
            <a:ext cx="3108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0" name="Text 7"/>
          <p:cNvSpPr txBox="1"/>
          <p:nvPr/>
        </p:nvSpPr>
        <p:spPr>
          <a:xfrm>
            <a:off x="8705088" y="4672584"/>
            <a:ext cx="2889504" cy="1307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Цілісність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DELETE CASCADE; журнал зберігається (SET NULL). Операція + запис журналу — одна транзакція.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Ключові рішення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Повні записи ADR з альтернативами — у docs/architecture/decisions.md.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 txBox="1"/>
          <p:nvPr/>
        </p:nvSpPr>
        <p:spPr>
          <a:xfrm>
            <a:off x="658368" y="1609344"/>
            <a:ext cx="2432304" cy="1673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Локальна SQLite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 синхронізації свій для кожного ПК; без сервера; працює офлайн.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 txBox="1"/>
          <p:nvPr/>
        </p:nvSpPr>
        <p:spPr>
          <a:xfrm>
            <a:off x="3493008" y="1609344"/>
            <a:ext cx="2432304" cy="1673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changes.list + page_token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зміни з минулого запиту — швидко й економить квоту API. Таймер 5 хв.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 txBox="1"/>
          <p:nvPr/>
        </p:nvSpPr>
        <p:spPr>
          <a:xfrm>
            <a:off x="6327648" y="1609344"/>
            <a:ext cx="2432304" cy="1673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FileSystemWatcher + debounce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Реакція за 2 с; контрольне сканування ловить пропущені події.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052560" y="155448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 txBox="1"/>
          <p:nvPr/>
        </p:nvSpPr>
        <p:spPr>
          <a:xfrm>
            <a:off x="9162288" y="1609344"/>
            <a:ext cx="2432304" cy="1673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Конфлікт — обидві версії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Копія «(конфлікт ПК дата)» + сповіщення. Жодна правка не губиться.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 txBox="1"/>
          <p:nvPr/>
        </p:nvSpPr>
        <p:spPr>
          <a:xfrm>
            <a:off x="658368" y="3621024"/>
            <a:ext cx="2432304" cy="1673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Видалення — лише в кошик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 Drive, і в Windows. Помилку завжди можна відкотити.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383280" y="35661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 txBox="1"/>
          <p:nvPr/>
        </p:nvSpPr>
        <p:spPr>
          <a:xfrm>
            <a:off x="3493008" y="3621024"/>
            <a:ext cx="2432304" cy="1673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Токени — Windows DPAPI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Зашифровані для поточного користувача Windows.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35661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 txBox="1"/>
          <p:nvPr/>
        </p:nvSpPr>
        <p:spPr>
          <a:xfrm>
            <a:off x="6327648" y="3621024"/>
            <a:ext cx="2432304" cy="1673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async/await, один цикл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не зависає; SemaphoreSlim виключає гонки при записі.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52560" y="3566160"/>
            <a:ext cx="26517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9" name="Text 17"/>
          <p:cNvSpPr txBox="1"/>
          <p:nvPr/>
        </p:nvSpPr>
        <p:spPr>
          <a:xfrm>
            <a:off x="9162288" y="3621024"/>
            <a:ext cx="2432304" cy="1673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drive, режим Testing</a:t>
            </a:r>
            <a:endParaRPr lang="en-US" sz="15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до наявних папок; тестові користувачі — команда й викладач.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Стани синхронізації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стан має іконку в треї та текст у головному вікні (FR-12).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627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 3"/>
          <p:cNvSpPr txBox="1"/>
          <p:nvPr/>
        </p:nvSpPr>
        <p:spPr>
          <a:xfrm>
            <a:off x="658368" y="3163824"/>
            <a:ext cx="1883664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NotConnected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310896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E3F2F3"/>
          </a:solidFill>
          <a:ln w="12700">
            <a:solidFill>
              <a:srgbClr val="187F8A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7" name="Text 5"/>
          <p:cNvSpPr txBox="1"/>
          <p:nvPr/>
        </p:nvSpPr>
        <p:spPr>
          <a:xfrm>
            <a:off x="3218688" y="3163824"/>
            <a:ext cx="1883664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87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52160" y="310896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E8EFFC"/>
          </a:solidFill>
          <a:ln w="12700">
            <a:solidFill>
              <a:srgbClr val="2D68D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9" name="Text 7"/>
          <p:cNvSpPr txBox="1"/>
          <p:nvPr/>
        </p:nvSpPr>
        <p:spPr>
          <a:xfrm>
            <a:off x="5961888" y="3163824"/>
            <a:ext cx="1883664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2D6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08960" y="502920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526274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1" name="Text 9"/>
          <p:cNvSpPr txBox="1"/>
          <p:nvPr/>
        </p:nvSpPr>
        <p:spPr>
          <a:xfrm>
            <a:off x="3218688" y="5084064"/>
            <a:ext cx="1883664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26880" y="173736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DEEE3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3" name="Text 11"/>
          <p:cNvSpPr txBox="1"/>
          <p:nvPr/>
        </p:nvSpPr>
        <p:spPr>
          <a:xfrm>
            <a:off x="9436608" y="1792224"/>
            <a:ext cx="1883664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26880" y="457200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 w="12700">
            <a:solidFill>
              <a:srgbClr val="B42318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15" name="Text 13"/>
          <p:cNvSpPr txBox="1"/>
          <p:nvPr/>
        </p:nvSpPr>
        <p:spPr>
          <a:xfrm>
            <a:off x="9436608" y="4626864"/>
            <a:ext cx="1883664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651760" y="3456432"/>
            <a:ext cx="45720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17" name="Text 15"/>
          <p:cNvSpPr txBox="1"/>
          <p:nvPr/>
        </p:nvSpPr>
        <p:spPr>
          <a:xfrm>
            <a:off x="219456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вхід + папки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0" y="3310128"/>
            <a:ext cx="64008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19" name="Text 17"/>
          <p:cNvSpPr txBox="1"/>
          <p:nvPr/>
        </p:nvSpPr>
        <p:spPr>
          <a:xfrm>
            <a:off x="475488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таймер / подія / кнопка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 flipH="1">
            <a:off x="5212080" y="3611880"/>
            <a:ext cx="640080" cy="914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21" name="Text 19"/>
          <p:cNvSpPr txBox="1"/>
          <p:nvPr/>
        </p:nvSpPr>
        <p:spPr>
          <a:xfrm>
            <a:off x="5303520" y="3703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успіх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 flipV="1">
            <a:off x="7955280" y="2240280"/>
            <a:ext cx="1371600" cy="91440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23" name="Text 21"/>
          <p:cNvSpPr txBox="1"/>
          <p:nvPr/>
        </p:nvSpPr>
        <p:spPr>
          <a:xfrm>
            <a:off x="8732520" y="2926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мережі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H="1">
            <a:off x="7818120" y="1965960"/>
            <a:ext cx="1508760" cy="1143000"/>
          </a:xfrm>
          <a:prstGeom prst="line">
            <a:avLst/>
          </a:prstGeom>
          <a:noFill/>
          <a:ln w="19050">
            <a:solidFill>
              <a:srgbClr val="7A8AA0"/>
            </a:solidFill>
            <a:prstDash val="dash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25" name="Text 23"/>
          <p:cNvSpPr txBox="1"/>
          <p:nvPr/>
        </p:nvSpPr>
        <p:spPr>
          <a:xfrm>
            <a:off x="786384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мережа є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55280" y="3657600"/>
            <a:ext cx="1371600" cy="109728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27" name="Text 25"/>
          <p:cNvSpPr txBox="1"/>
          <p:nvPr/>
        </p:nvSpPr>
        <p:spPr>
          <a:xfrm>
            <a:off x="8458200" y="3886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помилка після повторів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flipH="1" flipV="1">
            <a:off x="7772400" y="3794760"/>
            <a:ext cx="1554480" cy="1280160"/>
          </a:xfrm>
          <a:prstGeom prst="line">
            <a:avLst/>
          </a:prstGeom>
          <a:noFill/>
          <a:ln w="19050">
            <a:solidFill>
              <a:srgbClr val="7A8AA0"/>
            </a:solidFill>
            <a:prstDash val="dash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29" name="Text 27"/>
          <p:cNvSpPr txBox="1"/>
          <p:nvPr/>
        </p:nvSpPr>
        <p:spPr>
          <a:xfrm>
            <a:off x="7863840" y="4526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повтор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931920" y="3794760"/>
            <a:ext cx="914" cy="1234440"/>
          </a:xfrm>
          <a:prstGeom prst="line">
            <a:avLst/>
          </a:prstGeom>
          <a:noFill/>
          <a:ln w="19050">
            <a:solidFill>
              <a:srgbClr val="7A8AA0"/>
            </a:solidFill>
            <a:prstDash val="solid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31" name="Text 29"/>
          <p:cNvSpPr txBox="1"/>
          <p:nvPr/>
        </p:nvSpPr>
        <p:spPr>
          <a:xfrm>
            <a:off x="3246120" y="4251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«Пауза»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 flipV="1">
            <a:off x="4389120" y="3794760"/>
            <a:ext cx="914" cy="1234440"/>
          </a:xfrm>
          <a:prstGeom prst="line">
            <a:avLst/>
          </a:prstGeom>
          <a:noFill/>
          <a:ln w="19050">
            <a:solidFill>
              <a:srgbClr val="7A8AA0"/>
            </a:solidFill>
            <a:prstDash val="dash"/>
            <a:tailEnd type="triangle"/>
          </a:ln>
        </p:spPr>
        <p:txBody>
          <a:bodyPr/>
          <a:lstStyle/>
          <a:p>
            <a:endParaRPr lang="uk-UA"/>
          </a:p>
        </p:txBody>
      </p:sp>
      <p:sp>
        <p:nvSpPr>
          <p:cNvPr id="33" name="Text 31"/>
          <p:cNvSpPr txBox="1"/>
          <p:nvPr/>
        </p:nvSpPr>
        <p:spPr>
          <a:xfrm>
            <a:off x="4480560" y="4251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«Відновити»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150876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  <p:txBody>
          <a:bodyPr/>
          <a:lstStyle/>
          <a:p>
            <a:endParaRPr lang="uk-UA"/>
          </a:p>
        </p:txBody>
      </p:sp>
      <p:sp>
        <p:nvSpPr>
          <p:cNvPr id="35" name="Text 33"/>
          <p:cNvSpPr txBox="1"/>
          <p:nvPr/>
        </p:nvSpPr>
        <p:spPr>
          <a:xfrm>
            <a:off x="658368" y="1563624"/>
            <a:ext cx="4718304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2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Пауза не обриває передачу</a:t>
            </a:r>
            <a:endParaRPr lang="en-US" sz="14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52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CancellationToken: поточний файл дописується, наступні не починаються.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</Words>
  <Application>Microsoft Office PowerPoint</Application>
  <PresentationFormat>Широкий екран</PresentationFormat>
  <Paragraphs>234</Paragraphs>
  <Slides>9</Slides>
  <Notes>9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MyCloudSync — архітектура та модель даних</dc:title>
  <dc:subject>PptxGenJS Presentation</dc:subject>
  <dc:creator>PptxGenJS</dc:creator>
  <cp:lastModifiedBy>Vlad</cp:lastModifiedBy>
  <cp:revision>2</cp:revision>
  <dcterms:created xsi:type="dcterms:W3CDTF">2026-09-29T17:42:44Z</dcterms:created>
  <dcterms:modified xsi:type="dcterms:W3CDTF">2026-09-29T19:09:02Z</dcterms:modified>
</cp:coreProperties>
</file>